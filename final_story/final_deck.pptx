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1" r:id="rId2"/>
    <p:sldId id="2569" r:id="rId3"/>
    <p:sldId id="2570" r:id="rId4"/>
    <p:sldId id="2571" r:id="rId5"/>
    <p:sldId id="2572" r:id="rId6"/>
    <p:sldId id="2573" r:id="rId7"/>
    <p:sldId id="2574" r:id="rId8"/>
    <p:sldId id="2575" r:id="rId9"/>
    <p:sldId id="2577" r:id="rId10"/>
    <p:sldId id="2576" r:id="rId11"/>
    <p:sldId id="25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AEA2-E3C5-449C-AC8B-6C14641749FA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C77D9-86FF-40D9-BB46-946041E92A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504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Image source: AI-generated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9B3A-B500-42A7-AA14-9202D0D6E69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074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1DEB-D719-78DC-689D-65BE897C7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FB1C45-6B66-167F-38F2-E3EC49F4A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B34A4-C9FC-4ABC-0B8B-3E821BAE1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58530-CC96-3871-6451-69B64328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F2C4-1DCD-CC38-82A2-F8CD0C7C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321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8AD7-2E6F-21B6-1ADC-5872198E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C91F-FB56-8ADD-6542-4BF8CDBC4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6AD42-D908-9B4E-67CB-E6FEEE8E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CB2F1-EE35-8B56-B019-DB1352FC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0C5AC-D918-E089-36FA-A2B19E96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370A-001E-59BF-107E-E0CCBEA9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7258A-1FA3-D53B-4D3F-77F4E0160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47E20-AA8B-ADB1-0E61-7A9B6CEF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CE651-2C41-90E4-760A-120EAE6A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FA8BE-3093-55FE-FC14-77FFE30F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35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CAC6C-9163-BFD3-9D59-EDEACD61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F0D5-4F51-458C-37ED-920D86DE7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70056-F150-EFF0-90EE-C274CB13B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90948-F9E7-043D-B3CA-EB0E4E229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DA983-CFC6-1D79-C7A2-709F226C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80777-F1DC-73DB-23AE-5534C9B3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31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7031-4AD1-1F56-812F-3071AD36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DBE17-1553-1553-BB63-E03DC3B94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49563-AC6A-F8FA-D9CF-9BDB7949C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B7A90-D033-D1EC-E6FB-A65CC4902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16FBE-1E32-2F95-D9CF-5E84064BC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DBBB5A-0D0B-4253-D810-8C443DC6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2E8AF-DE72-59F4-36DE-41E00E06E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12E59-1856-514E-4B8B-BB9E528C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9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D361-0072-6CFF-E54C-9762C307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49A88-C2BE-944E-64DD-27B0A45E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19605A-BD67-9E0E-B0CF-C0B91AD2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D66B0-477F-EDB0-8A80-BC83DA51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740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207FF-ECDB-8465-64D7-F2141775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D52A2-D47D-5B1C-C8AD-1CBF6B38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99136-76C0-1C17-BA92-9B6C52E8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73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EC05E-3F22-501B-2C58-645B3EB92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8491E-11EB-14B5-BD7A-03AD7E76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07F6-0269-A8DF-7B69-A9E3F150F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C2B84-0E5B-2AFE-EF84-B281C644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1DB4-19AC-191E-8C2D-3F0CEB908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32334-B174-06E0-7F26-586AFE97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3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8442-77AF-F74F-1B8A-7878B501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D32847-2B3B-0C94-328F-4622A8E83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BFD9CB-9C62-C571-CDC6-FFA4237C3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7A4A0-4A30-E65E-606B-CA755FEE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0DBC8-8212-0120-7583-AB84A18F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A373F-0E58-E91B-BFA8-A7869D84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6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88AEC-3B82-87E4-874A-49B81E5E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599D4-C1BE-5741-FCA3-6CAE8ED3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5272E-1E38-EF3A-4154-B09366A38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97E3F-BF7D-BAAB-73DE-3B5A7E4B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DEF78-631B-8716-2828-AA05D855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16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82D34D-82F7-BD36-EDF4-FE7F7E8E2A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81FDA-2434-C280-3A21-3A55147F6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BD77B-FA77-D947-C31A-133921CEE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CDFBC-2B99-4E6F-1564-3D54DF6FD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0825E-CBD7-1ABF-FF20-EBF4E028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769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81036"/>
            <a:ext cx="9906000" cy="99986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2999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5" y="1825625"/>
            <a:ext cx="4544695" cy="411797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1" y="6400800"/>
            <a:ext cx="990599" cy="457200"/>
          </a:xfrm>
        </p:spPr>
        <p:txBody>
          <a:bodyPr/>
          <a:lstStyle/>
          <a:p>
            <a:fld id="{833FF731-0671-4E16-83B5-1527EB111BED}" type="datetime1">
              <a:rPr lang="en-US" smtClean="0"/>
              <a:t>3/3/2026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8B40A4-AD32-3681-054F-B1104A95BB77}"/>
              </a:ext>
            </a:extLst>
          </p:cNvPr>
          <p:cNvCxnSpPr>
            <a:cxnSpLocks/>
          </p:cNvCxnSpPr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713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A02E2D-3240-ABF0-F65E-4E50A436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3556E-C777-8C8E-AEF3-5D3A6DAA1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E17D-9ED3-1135-6EF7-A47023706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D5812-2E32-4893-AC77-E43F4896211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B8685-C548-A7F1-F208-1D2B8C7B9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0639A-63E5-FD43-08BA-7CFE78571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B9C2F-7E01-476F-8ADC-F79202EE6A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80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71DB141-F286-439F-B8E3-161B3521096B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Content Placeholder 7" descr="A modern warehouse interior with tall shelves filled with organized inventory, automated robotics moving boxes, and digital data overlays suggesting analytics and forecasting. The lighting is bright and professional, with a clear space in the center for overlay text. No visible or implied text, letters, or words should appear anywhere in the image. The composition should convey efficiency, technology, and a premium business environment">
            <a:extLst>
              <a:ext uri="{FF2B5EF4-FFF2-40B4-BE49-F238E27FC236}">
                <a16:creationId xmlns:a16="http://schemas.microsoft.com/office/drawing/2014/main" id="{FC30DF69-4D95-498F-B51B-87EB7DF9E2C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81547-CE07-988A-DA8F-58616B7B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C30C2-1F0E-4567-B98C-FB53B2985E5B}"/>
              </a:ext>
            </a:extLst>
          </p:cNvPr>
          <p:cNvSpPr txBox="1"/>
          <p:nvPr/>
        </p:nvSpPr>
        <p:spPr>
          <a:xfrm>
            <a:off x="619125" y="924966"/>
            <a:ext cx="4391025" cy="2011412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0" algn="l">
              <a:buNone/>
            </a:pPr>
            <a:r>
              <a:rPr sz="4800" b="0">
                <a:solidFill>
                  <a:srgbClr val="000000"/>
                </a:solidFill>
                <a:effectLst/>
                <a:latin typeface="Mongolian Baiti" panose="03000500000000000000" pitchFamily="66" charset="0"/>
              </a:rPr>
              <a:t>Optimizing Inventory Management</a:t>
            </a:r>
            <a:r>
              <a:rPr>
                <a:effectLst/>
              </a:rPr>
              <a:t> </a:t>
            </a:r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FF883-5C2B-409A-8183-BAAA5B44A25B}"/>
              </a:ext>
            </a:extLst>
          </p:cNvPr>
          <p:cNvSpPr txBox="1"/>
          <p:nvPr/>
        </p:nvSpPr>
        <p:spPr>
          <a:xfrm>
            <a:off x="619125" y="5529262"/>
            <a:ext cx="4391025" cy="594121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0" algn="l">
              <a:buNone/>
            </a:pPr>
            <a:r>
              <a:rPr sz="1800" b="0">
                <a:solidFill>
                  <a:srgbClr val="A26A20"/>
                </a:solidFill>
                <a:effectLst/>
                <a:latin typeface="Avenir"/>
              </a:rPr>
              <a:t>Data-driven replenishment strategies and impact forecast</a:t>
            </a:r>
            <a:r>
              <a:rPr>
                <a:effectLst/>
              </a:rPr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00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DEBD-88AB-0A8F-F88C-3C858D77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C9D2-3523-3EB7-3755-FD0C5C5A9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449" y="49163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Objective &amp; Success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6102-8CEC-21E6-48A8-26F0620B9AA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24980"/>
            <a:ext cx="10026446" cy="5818390"/>
          </a:xfrm>
        </p:spPr>
        <p:txBody>
          <a:bodyPr>
            <a:noAutofit/>
          </a:bodyPr>
          <a:lstStyle/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Goal</a:t>
            </a:r>
            <a:endParaRPr lang="en-US" sz="2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Implement 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data-driven demand forecasting and replenishment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to 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minimize stockouts and lost sales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while ensuring 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optimal inventory levels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throughout the retail network.</a:t>
            </a: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endParaRPr lang="en-US" sz="1600" b="1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Objective</a:t>
            </a:r>
            <a:endParaRPr lang="en-US" sz="2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Enhance product availability (Fill Rate) while maintaining consistent inventory control across stores and SKUs.</a:t>
            </a: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Business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Challenges</a:t>
            </a:r>
            <a:endParaRPr lang="en-US" sz="2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Stockouts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→ lost sales and diminished customer satisfaction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Overstock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→ tied-up capital and increased holding expenses</a:t>
            </a:r>
            <a:b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Key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Performance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Indicator</a:t>
            </a:r>
            <a:endParaRPr lang="en-US" sz="2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 algn="l" rtl="0" eaLnBrk="1" latinLnBrk="0" hangingPunct="1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Fill Rate (Service Level)</a:t>
            </a:r>
            <a:endParaRPr lang="en-US" sz="16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ptos" panose="020B0004020202020204" pitchFamily="34" charset="0"/>
              </a:rPr>
              <a:t>→  The percentage of actual customer demand met without stockouts</a:t>
            </a: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</a:p>
          <a:p>
            <a:pPr marL="0" indent="0" algn="l" rtl="0" eaLnBrk="1" latinLnBrk="0" hangingPunct="1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Supporting</a:t>
            </a: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Metrics</a:t>
            </a:r>
            <a:endParaRPr lang="en-US" sz="240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Forecast Accuracy: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WAPE, MAPE, Bias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Availability: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Stockout Rate, Lost Sales (Units / ₹)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US" sz="16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Inventory Management: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DOH, Overstock Rate, Inventory Turns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2487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4DBED-2D71-48BA-A17A-98E2F041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06C4-03C5-B309-A95F-60748FD7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5" y="78658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Data &amp; Methodology (ETL + Forecasting)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4AA3-E7E3-12B8-F0F8-C4266D859B5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64308"/>
            <a:ext cx="10026446" cy="563649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Data Coverage (Store–SKU–Day)</a:t>
            </a:r>
            <a:endParaRPr lang="en-IN" sz="2400" dirty="0"/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Sales:</a:t>
            </a:r>
            <a:r>
              <a:rPr lang="en-IN" sz="1600" dirty="0"/>
              <a:t> Units sold, revenue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Inventory:</a:t>
            </a:r>
            <a:r>
              <a:rPr lang="en-IN" sz="1600" dirty="0"/>
              <a:t> Daily on‑hand inventory snapshots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Purchase Orders:</a:t>
            </a:r>
            <a:r>
              <a:rPr lang="en-IN" sz="1600" dirty="0"/>
              <a:t> Order quantities, realized lead times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Product Master:</a:t>
            </a:r>
            <a:r>
              <a:rPr lang="en-IN" sz="1600" dirty="0"/>
              <a:t> Category, cost, shelf life, MOQ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Calendar:</a:t>
            </a:r>
            <a:r>
              <a:rPr lang="en-IN" sz="1600" dirty="0"/>
              <a:t> Day of week, promotion flag, holiday flag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ETL Methodology</a:t>
            </a:r>
            <a:endParaRPr lang="en-IN" sz="2400" dirty="0"/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dirty="0"/>
              <a:t>Build a </a:t>
            </a:r>
            <a:r>
              <a:rPr lang="en-IN" sz="1600" b="1" dirty="0"/>
              <a:t>complete daily time series</a:t>
            </a:r>
            <a:r>
              <a:rPr lang="en-IN" sz="1600" dirty="0"/>
              <a:t> for every store–SKU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dirty="0"/>
              <a:t>Standardize IDs, handle missing dates, deduplicate records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dirty="0"/>
              <a:t>Outlier detection on demand using IQR method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dirty="0"/>
              <a:t>Forward‑fill inventory to ensure continuity for planning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Forecasting Methodology</a:t>
            </a:r>
            <a:endParaRPr lang="en-IN" sz="2400" dirty="0"/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Granularity:</a:t>
            </a:r>
            <a:r>
              <a:rPr lang="en-IN" sz="1600" dirty="0"/>
              <a:t> Store–SKU–Day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Horizon:</a:t>
            </a:r>
            <a:r>
              <a:rPr lang="en-IN" sz="1600" dirty="0"/>
              <a:t> 28 days (4 weeks)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Models evaluated:</a:t>
            </a:r>
            <a:r>
              <a:rPr lang="en-IN" sz="1600" dirty="0"/>
              <a:t> </a:t>
            </a:r>
          </a:p>
          <a:p>
            <a:pPr lvl="1">
              <a:lnSpc>
                <a:spcPct val="110000"/>
              </a:lnSpc>
              <a:spcAft>
                <a:spcPts val="200"/>
              </a:spcAft>
            </a:pPr>
            <a:r>
              <a:rPr lang="en-IN" sz="1600" dirty="0"/>
              <a:t>Seasonal Naive (weekly baseline)</a:t>
            </a:r>
          </a:p>
          <a:p>
            <a:pPr lvl="1">
              <a:lnSpc>
                <a:spcPct val="110000"/>
              </a:lnSpc>
              <a:spcAft>
                <a:spcPts val="200"/>
              </a:spcAft>
            </a:pPr>
            <a:r>
              <a:rPr lang="en-IN" sz="1600" dirty="0"/>
              <a:t>Regression model (selected)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Features used:</a:t>
            </a:r>
            <a:r>
              <a:rPr lang="en-IN" sz="1600" dirty="0"/>
              <a:t> Day of week, promo flag, holiday flag</a:t>
            </a:r>
          </a:p>
          <a:p>
            <a:pPr>
              <a:lnSpc>
                <a:spcPct val="110000"/>
              </a:lnSpc>
              <a:spcAft>
                <a:spcPts val="200"/>
              </a:spcAft>
            </a:pPr>
            <a:r>
              <a:rPr lang="en-IN" sz="1600" b="1" dirty="0"/>
              <a:t>Model selection criteria:</a:t>
            </a:r>
            <a:r>
              <a:rPr lang="en-IN" sz="1600" dirty="0"/>
              <a:t> Lower WAPE, reduced bias, better promo handling</a:t>
            </a:r>
          </a:p>
        </p:txBody>
      </p:sp>
    </p:spTree>
    <p:extLst>
      <p:ext uri="{BB962C8B-B14F-4D97-AF65-F5344CB8AC3E}">
        <p14:creationId xmlns:p14="http://schemas.microsoft.com/office/powerpoint/2010/main" val="15997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D5C8D-1F44-2657-DD9C-DDE0D77A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3E87-8832-E68B-7C5C-136B70CC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5" y="58998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Data &amp; Methodology (Replenishment Policy)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A8645-A260-68F7-BCEF-06196F67653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34812"/>
            <a:ext cx="10026446" cy="5332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Policy Type</a:t>
            </a:r>
            <a:endParaRPr lang="en-IN" sz="2400" dirty="0"/>
          </a:p>
          <a:p>
            <a:pPr marL="0" indent="0">
              <a:buNone/>
            </a:pPr>
            <a:r>
              <a:rPr lang="en-IN" sz="1600" b="1" dirty="0"/>
              <a:t>Store–SKU Order‑Up‑To Replenishment Policy</a:t>
            </a:r>
            <a:endParaRPr lang="en-IN" sz="1600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2400" b="1" dirty="0"/>
              <a:t>Key Inputs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Average daily demand (last 8 weeks)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Demand volatility (standard deviation)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Supplier lead time (median, with fallback default)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Category‑specific service level targets</a:t>
            </a:r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2400" b="1" dirty="0"/>
              <a:t>Core Calculations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Safety Stock</a:t>
            </a:r>
            <a:r>
              <a:rPr lang="en-IN" sz="1600" dirty="0"/>
              <a:t> = z × σ × √</a:t>
            </a:r>
            <a:r>
              <a:rPr lang="en-IN" sz="1600" dirty="0" err="1"/>
              <a:t>LeadTime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Reorder Point (ROP)</a:t>
            </a:r>
            <a:r>
              <a:rPr lang="en-IN" sz="1600" dirty="0"/>
              <a:t> = </a:t>
            </a:r>
            <a:r>
              <a:rPr lang="en-IN" sz="1600" dirty="0" err="1"/>
              <a:t>AvgDailyDemand</a:t>
            </a:r>
            <a:r>
              <a:rPr lang="en-IN" sz="1600" dirty="0"/>
              <a:t> × </a:t>
            </a:r>
            <a:r>
              <a:rPr lang="en-IN" sz="1600" dirty="0" err="1"/>
              <a:t>LeadTime</a:t>
            </a:r>
            <a:r>
              <a:rPr lang="en-IN" sz="1600" dirty="0"/>
              <a:t> + Safety Stock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Order Quantity</a:t>
            </a:r>
            <a:r>
              <a:rPr lang="en-IN" sz="1600" dirty="0"/>
              <a:t> = Raise inventory to </a:t>
            </a:r>
            <a:r>
              <a:rPr lang="en-IN" sz="1600" b="1" dirty="0"/>
              <a:t>30 days of cover</a:t>
            </a:r>
            <a:endParaRPr lang="en-IN" sz="1600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2400" b="1" dirty="0"/>
              <a:t>Operational Constraints Applied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Minimum Order Quantity (MOQ)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Shelf‑life protection for perishable SKUs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Optional store capacity limits</a:t>
            </a:r>
          </a:p>
        </p:txBody>
      </p:sp>
    </p:spTree>
    <p:extLst>
      <p:ext uri="{BB962C8B-B14F-4D97-AF65-F5344CB8AC3E}">
        <p14:creationId xmlns:p14="http://schemas.microsoft.com/office/powerpoint/2010/main" val="808655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F308-050E-1B32-EE79-7C8695D9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480FB-0F6B-36E6-119E-47400999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5" y="78658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Key Insights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3D7FF-69F8-935B-619C-B978AC9E945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833132"/>
            <a:ext cx="10026446" cy="5332259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Stockouts are </a:t>
            </a:r>
            <a:r>
              <a:rPr lang="en-IN" sz="1600" b="1" dirty="0"/>
              <a:t>highly concentrated</a:t>
            </a:r>
            <a:r>
              <a:rPr lang="en-IN" sz="1600" dirty="0"/>
              <a:t>, not evenly distributed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A </a:t>
            </a:r>
            <a:r>
              <a:rPr lang="en-IN" sz="1600" b="1" dirty="0"/>
              <a:t>small number of categories</a:t>
            </a:r>
            <a:r>
              <a:rPr lang="en-IN" sz="1600" dirty="0"/>
              <a:t> drive most stockout days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High‑stockout categories show </a:t>
            </a:r>
            <a:r>
              <a:rPr lang="en-IN" sz="1600" b="1" dirty="0"/>
              <a:t>higher demand volatility</a:t>
            </a:r>
            <a:endParaRPr lang="en-IN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Promotions materially uplift demand → under‑forecasting risk if ignored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A subset of stores contributes disproportionately to stockouts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Overstock risk driven by </a:t>
            </a:r>
            <a:r>
              <a:rPr lang="en-IN" sz="1600" b="1" dirty="0"/>
              <a:t>excess DOH (&gt;45 days)</a:t>
            </a:r>
            <a:endParaRPr lang="en-IN" sz="16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IN" sz="1600" dirty="0"/>
              <a:t>Targeted replenishment can reduce stockouts without inflating inventory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53857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9C4C7-8627-5132-5C93-5185E6FA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F0243-EF91-CECF-ACFE-B00E610F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5" y="49166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Forecast Performance &amp; Chosen Approach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AD4E1-8056-7681-1FF2-965E1E09E9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695484"/>
            <a:ext cx="10026446" cy="59019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Evaluation Metrics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WAPE (Primary):</a:t>
            </a:r>
            <a:r>
              <a:rPr lang="en-IN" sz="1600" dirty="0"/>
              <a:t> Volume‑weighted forecast accuracy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MAPE (Diagnostic):</a:t>
            </a:r>
            <a:r>
              <a:rPr lang="en-IN" sz="1600" dirty="0"/>
              <a:t> Interpretability check (ex‑zero demand days)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Forecast Bias:</a:t>
            </a:r>
            <a:r>
              <a:rPr lang="en-IN" sz="1600" dirty="0"/>
              <a:t> Directional risk of over‑ or under‑forecasting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Performance Results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Regression model outperforms Seasonal Naive on WAPE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Bias closer to zero</a:t>
            </a:r>
            <a:r>
              <a:rPr lang="en-IN" sz="1600" dirty="0"/>
              <a:t>, reducing systematic overstock and stockout risk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Consistent performance across categories</a:t>
            </a:r>
            <a:r>
              <a:rPr lang="en-IN" sz="1600" dirty="0"/>
              <a:t>, including high‑volume SKUs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Why This Approach Was Chosen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Better captures </a:t>
            </a:r>
            <a:r>
              <a:rPr lang="en-IN" sz="1600" b="1" dirty="0"/>
              <a:t>weekly patterns + promo/holiday effects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More </a:t>
            </a:r>
            <a:r>
              <a:rPr lang="en-IN" sz="1600" b="1" dirty="0"/>
              <a:t>stable demand signal</a:t>
            </a:r>
            <a:r>
              <a:rPr lang="en-IN" sz="1600" dirty="0"/>
              <a:t> for replenishment decisions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Lower risk of inventory imbalance due to reduced bias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Validation Diagnostics Used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Actual vs forecast </a:t>
            </a:r>
            <a:r>
              <a:rPr lang="en-IN" sz="1600" b="1" dirty="0"/>
              <a:t>trend alignment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Forecast error distribution</a:t>
            </a:r>
            <a:r>
              <a:rPr lang="en-IN" sz="1600" dirty="0"/>
              <a:t> centred around zero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Category‑level WAPE comparison</a:t>
            </a:r>
            <a:r>
              <a:rPr lang="en-IN" sz="1600" dirty="0"/>
              <a:t> to ensure robustness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61187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4981-F24A-889D-F123-E9929CF4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0F36F-88B5-BE7D-2F63-9F5CBD1B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5" y="58996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Replenishment Plan: How It Works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50F14-7176-91DC-C17C-B245A9831A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05316"/>
            <a:ext cx="10026446" cy="58183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b="1" dirty="0"/>
              <a:t>Policy Type</a:t>
            </a:r>
            <a:endParaRPr lang="en-IN" sz="16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b="1" dirty="0"/>
              <a:t>Store–SKU Order‑Up‑To Replenishment Policy</a:t>
            </a:r>
            <a:endParaRPr lang="en-IN" sz="16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b="1" dirty="0"/>
              <a:t>How the Plan Works (Step‑by‑Step)</a:t>
            </a:r>
            <a:endParaRPr lang="en-IN" sz="1600" dirty="0"/>
          </a:p>
          <a:p>
            <a:pPr marL="342900" lvl="0" indent="-342900">
              <a:lnSpc>
                <a:spcPct val="1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IN" sz="1600" b="1" dirty="0"/>
              <a:t>Estimate demand</a:t>
            </a:r>
            <a:r>
              <a:rPr lang="en-IN" sz="1600" dirty="0"/>
              <a:t> using recent 8‑week average and volatility</a:t>
            </a:r>
          </a:p>
          <a:p>
            <a:pPr marL="342900" lvl="0" indent="-342900">
              <a:lnSpc>
                <a:spcPct val="1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IN" sz="1600" b="1" dirty="0"/>
              <a:t>Account for supply uncertainty</a:t>
            </a:r>
            <a:r>
              <a:rPr lang="en-IN" sz="1600" dirty="0"/>
              <a:t> using realized supplier lead times</a:t>
            </a:r>
          </a:p>
          <a:p>
            <a:pPr marL="342900" lvl="0" indent="-342900">
              <a:lnSpc>
                <a:spcPct val="1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IN" sz="1600" b="1" dirty="0"/>
              <a:t>Protect service levels</a:t>
            </a:r>
            <a:r>
              <a:rPr lang="en-IN" sz="1600" dirty="0"/>
              <a:t> via category‑specific safety stock</a:t>
            </a:r>
          </a:p>
          <a:p>
            <a:pPr marL="342900" lvl="0" indent="-342900">
              <a:lnSpc>
                <a:spcPct val="1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IN" sz="1600" b="1" dirty="0"/>
              <a:t>Trigger replenishment</a:t>
            </a:r>
            <a:r>
              <a:rPr lang="en-IN" sz="1600" dirty="0"/>
              <a:t> when on‑hand inventory falls below Reorder Point</a:t>
            </a:r>
          </a:p>
          <a:p>
            <a:pPr marL="342900" lvl="0" indent="-342900">
              <a:lnSpc>
                <a:spcPct val="100000"/>
              </a:lnSpc>
              <a:spcAft>
                <a:spcPts val="200"/>
              </a:spcAft>
              <a:buFont typeface="+mj-lt"/>
              <a:buAutoNum type="arabicPeriod"/>
            </a:pPr>
            <a:r>
              <a:rPr lang="en-IN" sz="1600" b="1" dirty="0"/>
              <a:t>Order up to a target inventory level</a:t>
            </a:r>
            <a:r>
              <a:rPr lang="en-IN" sz="1600" dirty="0"/>
              <a:t> (30 days of cover)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b="1" dirty="0"/>
              <a:t>Key Inputs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 err="1"/>
              <a:t>Avg</a:t>
            </a:r>
            <a:r>
              <a:rPr lang="en-IN" sz="1600" dirty="0"/>
              <a:t> daily demand (last 8 weeks)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Demand volatility (standard deviation)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Supplier lead time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Category‑level service targets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b="1" dirty="0"/>
              <a:t>Core Calculations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Safety Stock</a:t>
            </a:r>
            <a:r>
              <a:rPr lang="en-IN" sz="1600" dirty="0"/>
              <a:t> = z × σ × √</a:t>
            </a:r>
            <a:r>
              <a:rPr lang="en-IN" sz="1600" dirty="0" err="1"/>
              <a:t>LeadTime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Reorder Point (ROP)</a:t>
            </a:r>
            <a:r>
              <a:rPr lang="en-IN" sz="1600" dirty="0"/>
              <a:t> = </a:t>
            </a:r>
            <a:r>
              <a:rPr lang="en-IN" sz="1600" dirty="0" err="1"/>
              <a:t>AvgDailyDemand</a:t>
            </a:r>
            <a:r>
              <a:rPr lang="en-IN" sz="1600" dirty="0"/>
              <a:t> × </a:t>
            </a:r>
            <a:r>
              <a:rPr lang="en-IN" sz="1600" dirty="0" err="1"/>
              <a:t>LeadTime</a:t>
            </a:r>
            <a:r>
              <a:rPr lang="en-IN" sz="1600" dirty="0"/>
              <a:t> + Safety Stock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Order Quantity</a:t>
            </a:r>
            <a:r>
              <a:rPr lang="en-IN" sz="1600" dirty="0"/>
              <a:t> = Raise inventory to </a:t>
            </a:r>
            <a:r>
              <a:rPr lang="en-IN" sz="1600" b="1" dirty="0"/>
              <a:t>30 days of cover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5173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95CFD-ACC8-06FC-A5E9-0A9BD0EC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F597-992E-3153-8F3F-26BB0FDC1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785" y="58996"/>
            <a:ext cx="9906000" cy="626654"/>
          </a:xfrm>
        </p:spPr>
        <p:txBody>
          <a:bodyPr>
            <a:normAutofit/>
          </a:bodyPr>
          <a:lstStyle/>
          <a:p>
            <a:r>
              <a:rPr lang="en-IN" sz="3600" b="1" dirty="0"/>
              <a:t>Replenishment Plan: Examples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AB88-942B-17A0-4BF9-39A26153CC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05316"/>
            <a:ext cx="10026446" cy="581839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Example 1 — Stockout‑Risk SKU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 err="1"/>
              <a:t>Avg</a:t>
            </a:r>
            <a:r>
              <a:rPr lang="en-IN" sz="1600" dirty="0"/>
              <a:t> daily demand: </a:t>
            </a:r>
            <a:r>
              <a:rPr lang="en-IN" sz="1600" b="1" dirty="0"/>
              <a:t>8 units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Lead time: </a:t>
            </a:r>
            <a:r>
              <a:rPr lang="en-IN" sz="1600" b="1" dirty="0"/>
              <a:t>4 days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Service level target: </a:t>
            </a:r>
            <a:r>
              <a:rPr lang="en-IN" sz="1600" b="1" dirty="0"/>
              <a:t>97%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Current on‑hand inventory: </a:t>
            </a:r>
            <a:r>
              <a:rPr lang="en-IN" sz="1600" b="1" dirty="0"/>
              <a:t>Below ROP</a:t>
            </a:r>
            <a:endParaRPr lang="en-IN" sz="16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20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000" b="1" dirty="0"/>
              <a:t>Action:</a:t>
            </a:r>
            <a:br>
              <a:rPr lang="en-IN" sz="1600" dirty="0"/>
            </a:br>
            <a:r>
              <a:rPr lang="en-IN" sz="1600" dirty="0"/>
              <a:t>Trigger replenishment to restore inventory to </a:t>
            </a:r>
            <a:r>
              <a:rPr lang="en-IN" sz="1600" b="1" dirty="0"/>
              <a:t>30‑day cover</a:t>
            </a:r>
            <a:r>
              <a:rPr lang="en-IN" sz="1600" dirty="0"/>
              <a:t>, preventing imminent stockout and lost sales.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24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Example 2 — Overstock‑Risk SKU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Days of Inventory on Hand (DOH): </a:t>
            </a:r>
            <a:r>
              <a:rPr lang="en-IN" sz="1600" b="1" dirty="0"/>
              <a:t>&gt; 45 days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Demand covered well beyond near‑term requirements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20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000" b="1" dirty="0"/>
              <a:t>Action:</a:t>
            </a:r>
            <a:endParaRPr lang="en-IN" sz="2000" dirty="0"/>
          </a:p>
          <a:p>
            <a:pPr marL="0" lv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dirty="0"/>
              <a:t>Reduce or pause future orders</a:t>
            </a:r>
          </a:p>
          <a:p>
            <a:pPr marL="0" lv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dirty="0"/>
              <a:t>Transfer excess stock to high‑demand locations</a:t>
            </a:r>
          </a:p>
          <a:p>
            <a:pPr marL="0" lv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1600" dirty="0"/>
              <a:t>Apply discounts where appropriate to accelerate sell‑through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48013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0C472-B468-5B44-FE74-6C58A554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24A7-CE34-C9CB-A2D3-1D8CE9CE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78658"/>
            <a:ext cx="10314039" cy="626654"/>
          </a:xfrm>
        </p:spPr>
        <p:txBody>
          <a:bodyPr>
            <a:noAutofit/>
          </a:bodyPr>
          <a:lstStyle/>
          <a:p>
            <a:r>
              <a:rPr lang="en-IN" sz="3600" b="1" dirty="0"/>
              <a:t>30‑Day Impact Estimate (Assumptions &amp; Scenarios)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C2D5-C8F7-7AA2-B65F-7B0BA6C2AA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24980"/>
            <a:ext cx="10026446" cy="57544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Assumptions &amp; Methodology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Stockout defined</a:t>
            </a:r>
            <a:r>
              <a:rPr lang="en-IN" sz="1700" dirty="0"/>
              <a:t> when on‑hand inventory &lt; Reorder Point (ROP)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Lost sales proxy</a:t>
            </a:r>
            <a:r>
              <a:rPr lang="en-IN" sz="1700" dirty="0"/>
              <a:t> = </a:t>
            </a:r>
            <a:r>
              <a:rPr lang="en-IN" sz="1700" dirty="0" err="1"/>
              <a:t>Avg</a:t>
            </a:r>
            <a:r>
              <a:rPr lang="en-IN" sz="1700" dirty="0"/>
              <a:t> daily demand × supplier lead time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dirty="0"/>
              <a:t>Impact evaluated over a </a:t>
            </a:r>
            <a:r>
              <a:rPr lang="en-IN" sz="1700" b="1" dirty="0"/>
              <a:t>30‑day forward horizon</a:t>
            </a:r>
            <a:endParaRPr lang="en-IN" sz="17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dirty="0"/>
              <a:t>Execution uncertainty modelled using </a:t>
            </a:r>
            <a:r>
              <a:rPr lang="en-IN" sz="1700" b="1" dirty="0"/>
              <a:t>±20% variance</a:t>
            </a:r>
            <a:endParaRPr lang="en-IN" sz="17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7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Estimated Business Impact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Significant reduction in stockout days</a:t>
            </a:r>
            <a:r>
              <a:rPr lang="en-IN" sz="1700" dirty="0"/>
              <a:t> for high‑risk store–SKU combinations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Material recovery of lost sales (₹)</a:t>
            </a:r>
            <a:r>
              <a:rPr lang="en-IN" sz="1700" dirty="0"/>
              <a:t> driven by improved availability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Controlled increase in inventory value</a:t>
            </a:r>
            <a:r>
              <a:rPr lang="en-IN" sz="1700" dirty="0"/>
              <a:t>, reflecting a deliberate service‑level trade-off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7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Scenarios Evaluated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Base Case:</a:t>
            </a:r>
            <a:r>
              <a:rPr lang="en-IN" sz="1700" dirty="0"/>
              <a:t> Expected execution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Best Case (+20%):</a:t>
            </a:r>
            <a:r>
              <a:rPr lang="en-IN" sz="1700" dirty="0"/>
              <a:t> Strong replenishment execution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700" b="1" dirty="0"/>
              <a:t>Worst Case (–20%):</a:t>
            </a:r>
            <a:r>
              <a:rPr lang="en-IN" sz="1700" dirty="0"/>
              <a:t> Partial execution / operational friction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1837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37E9-D51D-C902-B24B-E76DD5E6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0D273-8345-7BC7-8CBE-27403BF1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78658"/>
            <a:ext cx="10314039" cy="626654"/>
          </a:xfrm>
        </p:spPr>
        <p:txBody>
          <a:bodyPr>
            <a:noAutofit/>
          </a:bodyPr>
          <a:lstStyle/>
          <a:p>
            <a:r>
              <a:rPr lang="en-IN" sz="3600" b="1" dirty="0"/>
              <a:t>Risks &amp; Limitations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3D94-2555-E4EB-AE42-816873FA75C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724980"/>
            <a:ext cx="10026446" cy="57544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2400" b="1" dirty="0"/>
              <a:t>Key Risks &amp; Limitations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b="1" dirty="0"/>
              <a:t>Linear forecasting model</a:t>
            </a:r>
            <a:r>
              <a:rPr lang="en-IN" sz="1600" dirty="0"/>
              <a:t> may not fully capture nonlinear demand patterns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b="1" dirty="0"/>
              <a:t>Promotional uplift</a:t>
            </a:r>
            <a:r>
              <a:rPr lang="en-IN" sz="1600" dirty="0"/>
              <a:t> assumed uniform across stores and SKUs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b="1" dirty="0"/>
              <a:t>Lead‑time variability</a:t>
            </a:r>
            <a:r>
              <a:rPr lang="en-IN" sz="1600" dirty="0"/>
              <a:t> partially captured using historical medians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b="1" dirty="0"/>
              <a:t>Lost sales</a:t>
            </a:r>
            <a:r>
              <a:rPr lang="en-IN" sz="1600" dirty="0"/>
              <a:t> estimated using a proxy, not actual unmet customer demand</a:t>
            </a:r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IN" sz="2400" b="1" dirty="0"/>
              <a:t>Current</a:t>
            </a:r>
            <a:r>
              <a:rPr lang="en-IN" sz="1600" b="1" dirty="0"/>
              <a:t> </a:t>
            </a:r>
            <a:r>
              <a:rPr lang="en-IN" sz="2400" b="1" dirty="0"/>
              <a:t>Mitigations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dirty="0"/>
              <a:t>Conservative, category‑specific service level targets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dirty="0"/>
              <a:t>Scenario‑based impact estimation (base / best / worst cases)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IN" sz="1600" dirty="0"/>
              <a:t>Ongoing category‑ and store‑level performance monitoring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73140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E5E35-7C09-B04F-DDDF-66F99DE6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C0F5D-0359-0A7B-599D-2CB8B43EA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8" y="78658"/>
            <a:ext cx="10314039" cy="626654"/>
          </a:xfrm>
        </p:spPr>
        <p:txBody>
          <a:bodyPr>
            <a:noAutofit/>
          </a:bodyPr>
          <a:lstStyle/>
          <a:p>
            <a:r>
              <a:rPr lang="en-IN" sz="3600" b="1" dirty="0"/>
              <a:t>Risks &amp; Limitations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922DE-5778-4AFD-470B-E3A89A751FE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082777" y="646324"/>
            <a:ext cx="10026446" cy="57544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Recommendation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Roll out the replenishment policy in a </a:t>
            </a:r>
            <a:r>
              <a:rPr lang="en-IN" sz="1600" b="1" dirty="0"/>
              <a:t>phased manner</a:t>
            </a:r>
            <a:r>
              <a:rPr lang="en-IN" sz="1600" dirty="0"/>
              <a:t>, starting with: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Top stockout‑driving categories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b="1" dirty="0"/>
              <a:t>High‑impact store–SKU combinations</a:t>
            </a:r>
            <a:br>
              <a:rPr lang="en-IN" sz="1600" dirty="0"/>
            </a:br>
            <a:r>
              <a:rPr lang="en-IN" sz="1600" dirty="0"/>
              <a:t>This enables quick value capture while limiting operational risk.</a:t>
            </a:r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Next</a:t>
            </a:r>
            <a:r>
              <a:rPr lang="en-IN" sz="1600" b="1" dirty="0"/>
              <a:t> </a:t>
            </a:r>
            <a:r>
              <a:rPr lang="en-IN" sz="2400" b="1" dirty="0"/>
              <a:t>Steps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Incorporate </a:t>
            </a:r>
            <a:r>
              <a:rPr lang="en-IN" sz="1600" b="1" dirty="0"/>
              <a:t>promo depth and intensity</a:t>
            </a:r>
            <a:r>
              <a:rPr lang="en-IN" sz="1600" dirty="0"/>
              <a:t> into demand forecasts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Explicitly model </a:t>
            </a:r>
            <a:r>
              <a:rPr lang="en-IN" sz="1600" b="1" dirty="0"/>
              <a:t>lead‑time uncertainty and variability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Enable </a:t>
            </a:r>
            <a:r>
              <a:rPr lang="en-IN" sz="1600" b="1" dirty="0"/>
              <a:t>store‑specific service level tuning</a:t>
            </a:r>
            <a:endParaRPr lang="en-I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Automate the </a:t>
            </a:r>
            <a:r>
              <a:rPr lang="en-IN" sz="1600" b="1" dirty="0"/>
              <a:t>weekly replenishment planning and execution loop</a:t>
            </a:r>
            <a:endParaRPr lang="en-IN" sz="1600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IN" sz="2400" b="1" dirty="0"/>
              <a:t>Expected</a:t>
            </a:r>
            <a:r>
              <a:rPr lang="en-IN" sz="1600" b="1" dirty="0"/>
              <a:t> </a:t>
            </a:r>
            <a:r>
              <a:rPr lang="en-IN" sz="2400" b="1" dirty="0"/>
              <a:t>Outcomes</a:t>
            </a:r>
            <a:endParaRPr lang="en-IN" sz="24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Higher Fill Rate (improved availability)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Reduced lost sales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en-IN" sz="1600" dirty="0"/>
              <a:t>Disciplined and sustainable inventory growth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09657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1412</TotalTime>
  <Words>1113</Words>
  <Application>Microsoft Office PowerPoint</Application>
  <PresentationFormat>Widescreen</PresentationFormat>
  <Paragraphs>173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Avenir</vt:lpstr>
      <vt:lpstr>Mongolian Baiti</vt:lpstr>
      <vt:lpstr>Office Theme</vt:lpstr>
      <vt:lpstr>PowerPoint Presentation</vt:lpstr>
      <vt:lpstr>Objective &amp; Success Metrics</vt:lpstr>
      <vt:lpstr>Data &amp; Methodology (ETL + Forecasting)</vt:lpstr>
      <vt:lpstr>Data &amp; Methodology (Replenishment Policy)</vt:lpstr>
      <vt:lpstr>Key Insights</vt:lpstr>
      <vt:lpstr>Forecast Performance &amp; Chosen Approach</vt:lpstr>
      <vt:lpstr>Replenishment Plan: How It Works</vt:lpstr>
      <vt:lpstr>Replenishment Plan: Examples</vt:lpstr>
      <vt:lpstr>30‑Day Impact Estimate (Assumptions &amp; Scenarios)</vt:lpstr>
      <vt:lpstr>Risks &amp; Limitations</vt:lpstr>
      <vt:lpstr>Risks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Haneeesh Singhal</dc:creator>
  <cp:lastModifiedBy>Haneeesh Singhal</cp:lastModifiedBy>
  <cp:revision>16</cp:revision>
  <dcterms:created xsi:type="dcterms:W3CDTF">2026-03-03T15:09:46Z</dcterms:created>
  <dcterms:modified xsi:type="dcterms:W3CDTF">2026-03-04T14:42:43Z</dcterms:modified>
</cp:coreProperties>
</file>