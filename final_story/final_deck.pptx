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1" r:id="rId2"/>
    <p:sldId id="2569" r:id="rId3"/>
    <p:sldId id="2570" r:id="rId4"/>
    <p:sldId id="2571" r:id="rId5"/>
    <p:sldId id="2572" r:id="rId6"/>
    <p:sldId id="2573" r:id="rId7"/>
    <p:sldId id="2574" r:id="rId8"/>
    <p:sldId id="2575" r:id="rId9"/>
    <p:sldId id="2577" r:id="rId10"/>
    <p:sldId id="2576" r:id="rId11"/>
    <p:sldId id="257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AEA2-E3C5-449C-AC8B-6C14641749FA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C77D9-86FF-40D9-BB46-946041E92A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65043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Image source: AI-generated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429B3A-B500-42A7-AA14-9202D0D6E696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00745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11DEB-D719-78DC-689D-65BE897C75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FB1C45-6B66-167F-38F2-E3EC49F4AB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B34A4-C9FC-4ABC-0B8B-3E821BAE1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58530-CC96-3871-6451-69B64328A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F2C4-1DCD-CC38-82A2-F8CD0C7C7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3321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28AD7-2E6F-21B6-1ADC-5872198E8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7C91F-FB56-8ADD-6542-4BF8CDBC4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6AD42-D908-9B4E-67CB-E6FEEE8EEB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CB2F1-EE35-8B56-B019-DB1352FC0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B0C5AC-D918-E089-36FA-A2B19E964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234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C370A-001E-59BF-107E-E0CCBEA92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07258A-1FA3-D53B-4D3F-77F4E01607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47E20-AA8B-ADB1-0E61-7A9B6CEF8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CE651-2C41-90E4-760A-120EAE6A2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6FA8BE-3093-55FE-FC14-77FFE30F0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355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CAC6C-9163-BFD3-9D59-EDEACD614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8F0D5-4F51-458C-37ED-920D86DE7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B70056-F150-EFF0-90EE-C274CB13BA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D90948-F9E7-043D-B3CA-EB0E4E229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5DA983-CFC6-1D79-C7A2-709F226CE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180777-F1DC-73DB-23AE-5534C9B34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931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F7031-4AD1-1F56-812F-3071AD364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3DBE17-1553-1553-BB63-E03DC3B947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549563-AC6A-F8FA-D9CF-9BDB7949CF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AB7A90-D033-D1EC-E6FB-A65CC4902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F16FBE-1E32-2F95-D9CF-5E84064BC5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DBBB5A-0D0B-4253-D810-8C443DC60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42E8AF-DE72-59F4-36DE-41E00E06E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412E59-1856-514E-4B8B-BB9E528CF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5983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7D361-0072-6CFF-E54C-9762C3077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549A88-C2BE-944E-64DD-27B0A45EA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19605A-BD67-9E0E-B0CF-C0B91AD25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D66B0-477F-EDB0-8A80-BC83DA51A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740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7207FF-ECDB-8465-64D7-F21417757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3D52A2-D47D-5B1C-C8AD-1CBF6B38F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99136-76C0-1C17-BA92-9B6C52E83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8735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EC05E-3F22-501B-2C58-645B3EB92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8491E-11EB-14B5-BD7A-03AD7E76D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D207F6-0269-A8DF-7B69-A9E3F150F5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2C2B84-0E5B-2AFE-EF84-B281C644C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281DB4-19AC-191E-8C2D-3F0CEB908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E32334-B174-06E0-7F26-586AFE97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137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18442-77AF-F74F-1B8A-7878B5018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D32847-2B3B-0C94-328F-4622A8E830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BFD9CB-9C62-C571-CDC6-FFA4237C37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27A4A0-4A30-E65E-606B-CA755FEE1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70DBC8-8212-0120-7583-AB84A18F8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6A373F-0E58-E91B-BFA8-A7869D840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8671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8AEC-3B82-87E4-874A-49B81E5E7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E599D4-C1BE-5741-FCA3-6CAE8ED399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5272E-1E38-EF3A-4154-B09366A38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97E3F-BF7D-BAAB-73DE-3B5A7E4B1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DEF78-631B-8716-2828-AA05D855D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11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82D34D-82F7-BD36-EDF4-FE7F7E8E2A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781FDA-2434-C280-3A21-3A55147F6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3BD77B-FA77-D947-C31A-133921CEE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CDFBC-2B99-4E6F-1564-3D54DF6FD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B0825E-CBD7-1ABF-FF20-EBF4E0284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17693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681036"/>
            <a:ext cx="9906000" cy="99986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142999" y="1825625"/>
            <a:ext cx="4544695" cy="4117975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4305" y="1825625"/>
            <a:ext cx="4544695" cy="4117975"/>
          </a:xfrm>
        </p:spPr>
        <p:txBody>
          <a:bodyPr/>
          <a:lstStyle>
            <a:lvl1pPr>
              <a:spcBef>
                <a:spcPts val="0"/>
              </a:spcBef>
              <a:defRPr/>
            </a:lvl1pPr>
            <a:lvl2pPr>
              <a:spcBef>
                <a:spcPts val="0"/>
              </a:spcBef>
              <a:defRPr/>
            </a:lvl2pPr>
            <a:lvl3pPr>
              <a:spcBef>
                <a:spcPts val="0"/>
              </a:spcBef>
              <a:defRPr/>
            </a:lvl3pPr>
            <a:lvl4pPr>
              <a:spcBef>
                <a:spcPts val="0"/>
              </a:spcBef>
              <a:defRPr/>
            </a:lvl4pPr>
            <a:lvl5pPr>
              <a:spcBef>
                <a:spcPts val="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1" y="6400800"/>
            <a:ext cx="990599" cy="457200"/>
          </a:xfrm>
        </p:spPr>
        <p:txBody>
          <a:bodyPr/>
          <a:lstStyle/>
          <a:p>
            <a:fld id="{833FF731-0671-4E16-83B5-1527EB111BED}" type="datetime1">
              <a:rPr lang="en-US" smtClean="0"/>
              <a:t>3/4/2026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78B40A4-AD32-3681-054F-B1104A95BB77}"/>
              </a:ext>
            </a:extLst>
          </p:cNvPr>
          <p:cNvCxnSpPr>
            <a:cxnSpLocks/>
          </p:cNvCxnSpPr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713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A02E2D-3240-ABF0-F65E-4E50A436D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03556E-C777-8C8E-AEF3-5D3A6DAA1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E17D-9ED3-1135-6EF7-A470237063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BD5812-2E32-4893-AC77-E43F48962118}" type="datetimeFigureOut">
              <a:rPr lang="en-IN" smtClean="0"/>
              <a:t>04-03-2026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0B8685-C548-A7F1-F208-1D2B8C7B9F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E0639A-63E5-FD43-08BA-7CFE785711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0B9C2F-7E01-476F-8ADC-F79202EE6A9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8809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71DB141-F286-439F-B8E3-161B3521096B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E81547-CE07-988A-DA8F-58616B7B6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1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1C30C2-1F0E-4567-B98C-FB53B2985E5B}"/>
              </a:ext>
            </a:extLst>
          </p:cNvPr>
          <p:cNvSpPr txBox="1"/>
          <p:nvPr/>
        </p:nvSpPr>
        <p:spPr>
          <a:xfrm>
            <a:off x="619125" y="924966"/>
            <a:ext cx="4391025" cy="2011412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marL="0" algn="l">
              <a:buNone/>
            </a:pPr>
            <a:r>
              <a:rPr sz="4000" b="0" dirty="0">
                <a:solidFill>
                  <a:srgbClr val="000000"/>
                </a:solidFill>
                <a:effectLst/>
                <a:latin typeface="+mj-lt"/>
              </a:rPr>
              <a:t>Optimizing Inventory Management</a:t>
            </a:r>
            <a:r>
              <a:rPr sz="4000" dirty="0">
                <a:effectLst/>
                <a:latin typeface="+mj-lt"/>
              </a:rPr>
              <a:t> </a:t>
            </a:r>
            <a:endParaRPr lang="en-IN" sz="4000" dirty="0">
              <a:latin typeface="+mj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9FF883-5C2B-409A-8183-BAAA5B44A25B}"/>
              </a:ext>
            </a:extLst>
          </p:cNvPr>
          <p:cNvSpPr txBox="1"/>
          <p:nvPr/>
        </p:nvSpPr>
        <p:spPr>
          <a:xfrm>
            <a:off x="619125" y="5529262"/>
            <a:ext cx="4391025" cy="594121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pPr marL="0" algn="l">
              <a:buNone/>
            </a:pPr>
            <a:r>
              <a:rPr sz="1800" b="0">
                <a:solidFill>
                  <a:srgbClr val="A26A20"/>
                </a:solidFill>
                <a:effectLst/>
                <a:latin typeface="Avenir"/>
              </a:rPr>
              <a:t>Data-driven replenishment strategies and impact forecast</a:t>
            </a:r>
            <a:r>
              <a:rPr>
                <a:effectLst/>
              </a:rPr>
              <a:t> 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B2EAC-4D2A-4626-6585-4CAFF7DBC120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6EF3F4-B19E-D0F2-FA72-75328D4311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1031" y="0"/>
            <a:ext cx="6390969" cy="685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40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FDEBD-88AB-0A8F-F88C-3C858D77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EC9D2-3523-3EB7-3755-FD0C5C5A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449" y="49163"/>
            <a:ext cx="9906000" cy="626654"/>
          </a:xfrm>
        </p:spPr>
        <p:txBody>
          <a:bodyPr>
            <a:normAutofit/>
          </a:bodyPr>
          <a:lstStyle/>
          <a:p>
            <a:r>
              <a:rPr lang="en-IN" sz="3600" b="1" dirty="0"/>
              <a:t>Objective &amp; Success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76102-8CEC-21E6-48A8-26F0620B9AA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724980"/>
            <a:ext cx="10026446" cy="5818390"/>
          </a:xfrm>
        </p:spPr>
        <p:txBody>
          <a:bodyPr>
            <a:noAutofit/>
          </a:bodyPr>
          <a:lstStyle/>
          <a:p>
            <a:pPr marL="0" indent="0" algn="l" rtl="0" eaLnBrk="1" latinLnBrk="0" hangingPunct="1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Goal</a:t>
            </a:r>
            <a:endParaRPr lang="en-US" sz="240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marL="0" indent="0" algn="l" rtl="0" eaLnBrk="1" latinLnBrk="0" hangingPunct="1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Implement </a:t>
            </a: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data-driven demand forecasting and replenishment</a:t>
            </a: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to </a:t>
            </a: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minimize stockouts and lost sales</a:t>
            </a: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while ensuring </a:t>
            </a: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optimal inventory levels</a:t>
            </a: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throughout the retail network.</a:t>
            </a:r>
          </a:p>
          <a:p>
            <a:pPr marL="0" indent="0" algn="l" rtl="0" eaLnBrk="1" latinLnBrk="0" hangingPunct="1">
              <a:lnSpc>
                <a:spcPct val="100000"/>
              </a:lnSpc>
              <a:buNone/>
            </a:pPr>
            <a:endParaRPr lang="en-US" sz="1600" b="1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marL="0" indent="0" algn="l" rtl="0" eaLnBrk="1" latinLnBrk="0" hangingPunct="1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Objective</a:t>
            </a:r>
            <a:endParaRPr lang="en-US" sz="240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marL="0" indent="0" algn="l" rtl="0" eaLnBrk="1" latinLnBrk="0" hangingPunct="1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ptos" panose="020B0004020202020204" pitchFamily="34" charset="0"/>
              </a:rPr>
              <a:t>Enhance product availability (Fill Rate) while maintaining consistent inventory control across stores and SKUs.</a:t>
            </a:r>
          </a:p>
          <a:p>
            <a:pPr marL="0" indent="0" algn="l" rtl="0" eaLnBrk="1" latinLnBrk="0" hangingPunct="1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​</a:t>
            </a:r>
          </a:p>
          <a:p>
            <a:pPr marL="0" indent="0" algn="l" rtl="0" eaLnBrk="1" latinLnBrk="0" hangingPunct="1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Business</a:t>
            </a: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24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Challenges</a:t>
            </a:r>
            <a:endParaRPr lang="en-US" sz="240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Stockouts</a:t>
            </a: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→ lost sales and diminished customer satisfaction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Overstock</a:t>
            </a: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→ tied-up capital and increased holding expenses</a:t>
            </a:r>
            <a:b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</a:b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​</a:t>
            </a:r>
          </a:p>
          <a:p>
            <a:pPr marL="0" indent="0" algn="l" rtl="0" eaLnBrk="1" latinLnBrk="0" hangingPunct="1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Key</a:t>
            </a: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24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Performance</a:t>
            </a: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24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Indicator</a:t>
            </a:r>
            <a:endParaRPr lang="en-US" sz="240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marL="0" indent="0" algn="l" rtl="0" eaLnBrk="1" latinLnBrk="0" hangingPunct="1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Fill Rate (Service Level)</a:t>
            </a:r>
            <a:endParaRPr lang="en-US" sz="160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600" dirty="0">
                <a:solidFill>
                  <a:srgbClr val="000000"/>
                </a:solidFill>
                <a:latin typeface="Aptos" panose="020B0004020202020204" pitchFamily="34" charset="0"/>
              </a:rPr>
              <a:t>→  The percentage of actual customer demand met without stockouts</a:t>
            </a:r>
          </a:p>
          <a:p>
            <a:pPr marL="0" indent="0" algn="l" rtl="0" eaLnBrk="1" latinLnBrk="0" hangingPunct="1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​</a:t>
            </a:r>
          </a:p>
          <a:p>
            <a:pPr marL="0" indent="0" algn="l" rtl="0" eaLnBrk="1" latinLnBrk="0" hangingPunct="1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Supporting</a:t>
            </a: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</a:t>
            </a:r>
            <a:r>
              <a:rPr lang="en-US" sz="24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Metrics</a:t>
            </a:r>
            <a:endParaRPr lang="en-US" sz="2400" dirty="0">
              <a:solidFill>
                <a:srgbClr val="000000"/>
              </a:solidFill>
              <a:effectLst/>
              <a:latin typeface="Aptos" panose="020B0004020202020204" pitchFamily="34" charset="0"/>
            </a:endParaRP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Forecast Accuracy:</a:t>
            </a: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WAPE, MAPE, Bias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Availability:</a:t>
            </a: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Stockout Rate, Lost Sales (Units / ₹)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US" sz="1600" b="1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Inventory Management:</a:t>
            </a:r>
            <a:r>
              <a:rPr lang="en-US" sz="1600" dirty="0">
                <a:solidFill>
                  <a:srgbClr val="000000"/>
                </a:solidFill>
                <a:effectLst/>
                <a:latin typeface="Aptos" panose="020B0004020202020204" pitchFamily="34" charset="0"/>
              </a:rPr>
              <a:t> DOH, Overstock Rate, Inventory Turns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124879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4DBED-2D71-48BA-A17A-98E2F0412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506C4-03C5-B309-A95F-60748FD72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785" y="78658"/>
            <a:ext cx="9906000" cy="626654"/>
          </a:xfrm>
        </p:spPr>
        <p:txBody>
          <a:bodyPr>
            <a:normAutofit/>
          </a:bodyPr>
          <a:lstStyle/>
          <a:p>
            <a:r>
              <a:rPr lang="en-IN" sz="3600" b="1" dirty="0"/>
              <a:t>Data &amp; Methodology (ETL + Forecasting)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14AA3-E7E3-12B8-F0F8-C4266D859B5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764308"/>
            <a:ext cx="10026446" cy="5636494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IN" sz="2400" b="1" dirty="0"/>
              <a:t>Data Coverage (Store–SKU–Day)</a:t>
            </a:r>
            <a:endParaRPr lang="en-IN" sz="2400" dirty="0"/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Sales:</a:t>
            </a:r>
            <a:r>
              <a:rPr lang="en-IN" sz="1600" dirty="0"/>
              <a:t> Units sold, revenue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Inventory:</a:t>
            </a:r>
            <a:r>
              <a:rPr lang="en-IN" sz="1600" dirty="0"/>
              <a:t> Daily on‑hand inventory snapshots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Purchase Orders:</a:t>
            </a:r>
            <a:r>
              <a:rPr lang="en-IN" sz="1600" dirty="0"/>
              <a:t> Order quantities, realized lead times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Product Master:</a:t>
            </a:r>
            <a:r>
              <a:rPr lang="en-IN" sz="1600" dirty="0"/>
              <a:t> Category, cost, shelf life, MOQ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Calendar:</a:t>
            </a:r>
            <a:r>
              <a:rPr lang="en-IN" sz="1600" dirty="0"/>
              <a:t> Day of week, promotion flag, holiday flag</a:t>
            </a:r>
          </a:p>
          <a:p>
            <a:pPr marL="0" indent="0">
              <a:lnSpc>
                <a:spcPct val="100000"/>
              </a:lnSpc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buNone/>
            </a:pPr>
            <a:r>
              <a:rPr lang="en-IN" sz="2400" b="1" dirty="0"/>
              <a:t>ETL Methodology</a:t>
            </a:r>
            <a:endParaRPr lang="en-IN" sz="2400" dirty="0"/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dirty="0"/>
              <a:t>Build a </a:t>
            </a:r>
            <a:r>
              <a:rPr lang="en-IN" sz="1600" b="1" dirty="0"/>
              <a:t>complete daily time series</a:t>
            </a:r>
            <a:r>
              <a:rPr lang="en-IN" sz="1600" dirty="0"/>
              <a:t> for every store–SKU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dirty="0"/>
              <a:t>Standardize IDs, handle missing dates, deduplicate records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dirty="0"/>
              <a:t>Outlier detection on demand using IQR method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dirty="0"/>
              <a:t>Forward‑fill inventory to ensure continuity for planning</a:t>
            </a:r>
          </a:p>
          <a:p>
            <a:pPr marL="0" indent="0">
              <a:lnSpc>
                <a:spcPct val="100000"/>
              </a:lnSpc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buNone/>
            </a:pPr>
            <a:r>
              <a:rPr lang="en-IN" sz="2400" b="1" dirty="0"/>
              <a:t>Forecasting Methodology</a:t>
            </a:r>
            <a:endParaRPr lang="en-IN" sz="2400" dirty="0"/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Granularity:</a:t>
            </a:r>
            <a:r>
              <a:rPr lang="en-IN" sz="1600" dirty="0"/>
              <a:t> Store–SKU–Day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Horizon:</a:t>
            </a:r>
            <a:r>
              <a:rPr lang="en-IN" sz="1600" dirty="0"/>
              <a:t> 28 days (4 weeks)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Models evaluated:</a:t>
            </a:r>
            <a:r>
              <a:rPr lang="en-IN" sz="1600" dirty="0"/>
              <a:t> </a:t>
            </a:r>
          </a:p>
          <a:p>
            <a:pPr lvl="1">
              <a:lnSpc>
                <a:spcPct val="110000"/>
              </a:lnSpc>
              <a:spcAft>
                <a:spcPts val="200"/>
              </a:spcAft>
            </a:pPr>
            <a:r>
              <a:rPr lang="en-IN" sz="1600" dirty="0"/>
              <a:t>Seasonal Naive (weekly baseline)</a:t>
            </a:r>
          </a:p>
          <a:p>
            <a:pPr lvl="1">
              <a:lnSpc>
                <a:spcPct val="110000"/>
              </a:lnSpc>
              <a:spcAft>
                <a:spcPts val="200"/>
              </a:spcAft>
            </a:pPr>
            <a:r>
              <a:rPr lang="en-IN" sz="1600" dirty="0"/>
              <a:t>Regression model (selected)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Features used:</a:t>
            </a:r>
            <a:r>
              <a:rPr lang="en-IN" sz="1600" dirty="0"/>
              <a:t> Day of week, promo flag, holiday flag</a:t>
            </a:r>
          </a:p>
          <a:p>
            <a:pPr>
              <a:lnSpc>
                <a:spcPct val="110000"/>
              </a:lnSpc>
              <a:spcAft>
                <a:spcPts val="200"/>
              </a:spcAft>
            </a:pPr>
            <a:r>
              <a:rPr lang="en-IN" sz="1600" b="1" dirty="0"/>
              <a:t>Model selection criteria:</a:t>
            </a:r>
            <a:r>
              <a:rPr lang="en-IN" sz="1600" dirty="0"/>
              <a:t> Lower WAPE, reduced bias, better promo handling</a:t>
            </a:r>
          </a:p>
        </p:txBody>
      </p:sp>
    </p:spTree>
    <p:extLst>
      <p:ext uri="{BB962C8B-B14F-4D97-AF65-F5344CB8AC3E}">
        <p14:creationId xmlns:p14="http://schemas.microsoft.com/office/powerpoint/2010/main" val="159971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5C8D-1F44-2657-DD9C-DDE0D77A4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23E87-8832-E68B-7C5C-136B70CC0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785" y="58998"/>
            <a:ext cx="9906000" cy="626654"/>
          </a:xfrm>
        </p:spPr>
        <p:txBody>
          <a:bodyPr>
            <a:normAutofit/>
          </a:bodyPr>
          <a:lstStyle/>
          <a:p>
            <a:r>
              <a:rPr lang="en-IN" sz="3600" b="1" dirty="0"/>
              <a:t>Data &amp; Methodology (Replenishment Policy)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A8645-A260-68F7-BCEF-06196F67653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734812"/>
            <a:ext cx="10026446" cy="53322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Policy Type</a:t>
            </a:r>
            <a:endParaRPr lang="en-IN" sz="2400" dirty="0"/>
          </a:p>
          <a:p>
            <a:pPr marL="0" indent="0">
              <a:buNone/>
            </a:pPr>
            <a:r>
              <a:rPr lang="en-IN" sz="1600" b="1" dirty="0"/>
              <a:t>Store–SKU Order‑Up‑To Replenishment Policy</a:t>
            </a:r>
            <a:endParaRPr lang="en-IN" sz="1600" dirty="0"/>
          </a:p>
          <a:p>
            <a:pPr marL="0" indent="0">
              <a:buNone/>
            </a:pPr>
            <a:endParaRPr lang="en-IN" sz="1600" b="1" dirty="0"/>
          </a:p>
          <a:p>
            <a:pPr marL="0" indent="0">
              <a:buNone/>
            </a:pPr>
            <a:r>
              <a:rPr lang="en-IN" sz="2400" b="1" dirty="0"/>
              <a:t>Key Inputs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Average daily demand (last 8 weeks)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Demand volatility (standard deviation)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Supplier lead time (median, with fallback default)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Category‑specific service level targets</a:t>
            </a:r>
          </a:p>
          <a:p>
            <a:pPr marL="0" indent="0">
              <a:buNone/>
            </a:pPr>
            <a:endParaRPr lang="en-IN" sz="1600" b="1" dirty="0"/>
          </a:p>
          <a:p>
            <a:pPr marL="0" indent="0">
              <a:buNone/>
            </a:pPr>
            <a:r>
              <a:rPr lang="en-IN" sz="2400" b="1" dirty="0"/>
              <a:t>Core Calculations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Safety Stock</a:t>
            </a:r>
            <a:r>
              <a:rPr lang="en-IN" sz="1600" dirty="0"/>
              <a:t> = z × σ × √</a:t>
            </a:r>
            <a:r>
              <a:rPr lang="en-IN" sz="1600" dirty="0" err="1"/>
              <a:t>LeadTime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Reorder Point (ROP)</a:t>
            </a:r>
            <a:r>
              <a:rPr lang="en-IN" sz="1600" dirty="0"/>
              <a:t> = </a:t>
            </a:r>
            <a:r>
              <a:rPr lang="en-IN" sz="1600" dirty="0" err="1"/>
              <a:t>AvgDailyDemand</a:t>
            </a:r>
            <a:r>
              <a:rPr lang="en-IN" sz="1600" dirty="0"/>
              <a:t> × </a:t>
            </a:r>
            <a:r>
              <a:rPr lang="en-IN" sz="1600" dirty="0" err="1"/>
              <a:t>LeadTime</a:t>
            </a:r>
            <a:r>
              <a:rPr lang="en-IN" sz="1600" dirty="0"/>
              <a:t> + Safety Stock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Order Quantity</a:t>
            </a:r>
            <a:r>
              <a:rPr lang="en-IN" sz="1600" dirty="0"/>
              <a:t> = Raise inventory to </a:t>
            </a:r>
            <a:r>
              <a:rPr lang="en-IN" sz="1600" b="1" dirty="0"/>
              <a:t>30 days of cover</a:t>
            </a:r>
            <a:endParaRPr lang="en-IN" sz="1600" dirty="0"/>
          </a:p>
          <a:p>
            <a:pPr marL="0" indent="0">
              <a:buNone/>
            </a:pPr>
            <a:endParaRPr lang="en-IN" sz="1600" b="1" dirty="0"/>
          </a:p>
          <a:p>
            <a:pPr marL="0" indent="0">
              <a:buNone/>
            </a:pPr>
            <a:r>
              <a:rPr lang="en-IN" sz="2400" b="1" dirty="0"/>
              <a:t>Operational Constraints Applied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Minimum Order Quantity (MOQ)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Shelf‑life protection for perishable SKUs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Optional store capacity limits</a:t>
            </a:r>
          </a:p>
        </p:txBody>
      </p:sp>
    </p:spTree>
    <p:extLst>
      <p:ext uri="{BB962C8B-B14F-4D97-AF65-F5344CB8AC3E}">
        <p14:creationId xmlns:p14="http://schemas.microsoft.com/office/powerpoint/2010/main" val="808655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F308-050E-1B32-EE79-7C8695D9A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480FB-0F6B-36E6-119E-474009990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785" y="78658"/>
            <a:ext cx="9906000" cy="626654"/>
          </a:xfrm>
        </p:spPr>
        <p:txBody>
          <a:bodyPr>
            <a:normAutofit/>
          </a:bodyPr>
          <a:lstStyle/>
          <a:p>
            <a:r>
              <a:rPr lang="en-IN" sz="3600" b="1" dirty="0"/>
              <a:t>Key Insights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3D7FF-69F8-935B-619C-B978AC9E945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833132"/>
            <a:ext cx="10026446" cy="5332259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IN" sz="1600" dirty="0"/>
              <a:t>Stockouts are </a:t>
            </a:r>
            <a:r>
              <a:rPr lang="en-IN" sz="1600" b="1" dirty="0"/>
              <a:t>highly concentrated</a:t>
            </a:r>
            <a:r>
              <a:rPr lang="en-IN" sz="1600" dirty="0"/>
              <a:t>, not evenly distributed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IN" sz="1600" dirty="0"/>
              <a:t>A </a:t>
            </a:r>
            <a:r>
              <a:rPr lang="en-IN" sz="1600" b="1" dirty="0"/>
              <a:t>small number of categories</a:t>
            </a:r>
            <a:r>
              <a:rPr lang="en-IN" sz="1600" dirty="0"/>
              <a:t> drive most stockout days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IN" sz="1600" dirty="0"/>
              <a:t>High‑stockout categories show </a:t>
            </a:r>
            <a:r>
              <a:rPr lang="en-IN" sz="1600" b="1" dirty="0"/>
              <a:t>higher demand volatility</a:t>
            </a:r>
            <a:endParaRPr lang="en-IN" sz="16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IN" sz="1600" dirty="0"/>
              <a:t>Promotions materially uplift demand → under‑forecasting risk if ignored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IN" sz="1600" dirty="0"/>
              <a:t>A subset of stores contributes disproportionately to stockouts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IN" sz="1600" dirty="0"/>
              <a:t>Overstock risk driven by </a:t>
            </a:r>
            <a:r>
              <a:rPr lang="en-IN" sz="1600" b="1" dirty="0"/>
              <a:t>excess DOH (&gt;45 days)</a:t>
            </a:r>
            <a:endParaRPr lang="en-IN" sz="1600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IN" sz="1600" dirty="0"/>
              <a:t>Targeted replenishment can reduce stockouts without inflating inventory</a:t>
            </a:r>
          </a:p>
          <a:p>
            <a:pPr marL="0" indent="0">
              <a:buNone/>
            </a:pP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538572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9C4C7-8627-5132-5C93-5185E6FA5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F0243-EF91-CECF-ACFE-B00E610FF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785" y="49166"/>
            <a:ext cx="9906000" cy="626654"/>
          </a:xfrm>
        </p:spPr>
        <p:txBody>
          <a:bodyPr>
            <a:normAutofit/>
          </a:bodyPr>
          <a:lstStyle/>
          <a:p>
            <a:r>
              <a:rPr lang="en-IN" sz="3600" b="1" dirty="0"/>
              <a:t>Forecast Performance &amp; Chosen Approach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D4E1-8056-7681-1FF2-965E1E09E92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695484"/>
            <a:ext cx="10026446" cy="59019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Evaluation Metrics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WAPE (Primary):</a:t>
            </a:r>
            <a:r>
              <a:rPr lang="en-IN" sz="1600" dirty="0"/>
              <a:t> Volume‑weighted forecast accuracy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MAPE (Diagnostic):</a:t>
            </a:r>
            <a:r>
              <a:rPr lang="en-IN" sz="1600" dirty="0"/>
              <a:t> Interpretability check (ex‑zero demand days)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Forecast Bias:</a:t>
            </a:r>
            <a:r>
              <a:rPr lang="en-IN" sz="1600" dirty="0"/>
              <a:t> Directional risk of over‑ or under‑forecasting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Performance Results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Regression model outperforms Seasonal Naive on WAPE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Bias closer to zero</a:t>
            </a:r>
            <a:r>
              <a:rPr lang="en-IN" sz="1600" dirty="0"/>
              <a:t>, reducing systematic overstock and stockout risk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Consistent performance across categories</a:t>
            </a:r>
            <a:r>
              <a:rPr lang="en-IN" sz="1600" dirty="0"/>
              <a:t>, including high‑volume SKUs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Why This Approach Was Chosen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Better captures </a:t>
            </a:r>
            <a:r>
              <a:rPr lang="en-IN" sz="1600" b="1" dirty="0"/>
              <a:t>weekly patterns + promo/holiday effects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More </a:t>
            </a:r>
            <a:r>
              <a:rPr lang="en-IN" sz="1600" b="1" dirty="0"/>
              <a:t>stable demand signal</a:t>
            </a:r>
            <a:r>
              <a:rPr lang="en-IN" sz="1600" dirty="0"/>
              <a:t> for replenishment decisions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Lower risk of inventory imbalance due to reduced bias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Validation Diagnostics Used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Actual vs forecast </a:t>
            </a:r>
            <a:r>
              <a:rPr lang="en-IN" sz="1600" b="1" dirty="0"/>
              <a:t>trend alignment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Forecast error distribution</a:t>
            </a:r>
            <a:r>
              <a:rPr lang="en-IN" sz="1600" dirty="0"/>
              <a:t> centred around zero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Category‑level WAPE comparison</a:t>
            </a:r>
            <a:r>
              <a:rPr lang="en-IN" sz="1600" dirty="0"/>
              <a:t> to ensure robustness</a:t>
            </a:r>
          </a:p>
          <a:p>
            <a:pPr marL="0" indent="0">
              <a:buNone/>
            </a:pP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22611876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64981-F24A-889D-F123-E9929CF41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0F36F-88B5-BE7D-2F63-9F5CBD1B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785" y="58996"/>
            <a:ext cx="9906000" cy="626654"/>
          </a:xfrm>
        </p:spPr>
        <p:txBody>
          <a:bodyPr>
            <a:normAutofit/>
          </a:bodyPr>
          <a:lstStyle/>
          <a:p>
            <a:r>
              <a:rPr lang="en-IN" sz="3600" b="1" dirty="0"/>
              <a:t>Replenishment Plan: How It Works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A50F14-7176-91DC-C17C-B245A9831AD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705316"/>
            <a:ext cx="10026446" cy="581839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1600" b="1" dirty="0"/>
              <a:t>Policy Type</a:t>
            </a:r>
            <a:endParaRPr lang="en-IN" sz="1600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1600" b="1" dirty="0"/>
              <a:t>Store–SKU Order‑Up‑To Replenishment Policy</a:t>
            </a:r>
            <a:endParaRPr lang="en-IN" sz="1600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1600" b="1" dirty="0"/>
              <a:t>How the Plan Works (Step‑by‑Step)</a:t>
            </a:r>
            <a:endParaRPr lang="en-IN" sz="1600" dirty="0"/>
          </a:p>
          <a:p>
            <a:pPr marL="342900" lvl="0" indent="-342900">
              <a:lnSpc>
                <a:spcPct val="100000"/>
              </a:lnSpc>
              <a:spcAft>
                <a:spcPts val="200"/>
              </a:spcAft>
              <a:buFont typeface="+mj-lt"/>
              <a:buAutoNum type="arabicPeriod"/>
            </a:pPr>
            <a:r>
              <a:rPr lang="en-IN" sz="1600" b="1" dirty="0"/>
              <a:t>Estimate demand</a:t>
            </a:r>
            <a:r>
              <a:rPr lang="en-IN" sz="1600" dirty="0"/>
              <a:t> using recent 8‑week average and volatility</a:t>
            </a:r>
          </a:p>
          <a:p>
            <a:pPr marL="342900" lvl="0" indent="-342900">
              <a:lnSpc>
                <a:spcPct val="100000"/>
              </a:lnSpc>
              <a:spcAft>
                <a:spcPts val="200"/>
              </a:spcAft>
              <a:buFont typeface="+mj-lt"/>
              <a:buAutoNum type="arabicPeriod"/>
            </a:pPr>
            <a:r>
              <a:rPr lang="en-IN" sz="1600" b="1" dirty="0"/>
              <a:t>Account for supply uncertainty</a:t>
            </a:r>
            <a:r>
              <a:rPr lang="en-IN" sz="1600" dirty="0"/>
              <a:t> using realized supplier lead times</a:t>
            </a:r>
          </a:p>
          <a:p>
            <a:pPr marL="342900" lvl="0" indent="-342900">
              <a:lnSpc>
                <a:spcPct val="100000"/>
              </a:lnSpc>
              <a:spcAft>
                <a:spcPts val="200"/>
              </a:spcAft>
              <a:buFont typeface="+mj-lt"/>
              <a:buAutoNum type="arabicPeriod"/>
            </a:pPr>
            <a:r>
              <a:rPr lang="en-IN" sz="1600" b="1" dirty="0"/>
              <a:t>Protect service levels</a:t>
            </a:r>
            <a:r>
              <a:rPr lang="en-IN" sz="1600" dirty="0"/>
              <a:t> via category‑specific safety stock</a:t>
            </a:r>
          </a:p>
          <a:p>
            <a:pPr marL="342900" lvl="0" indent="-342900">
              <a:lnSpc>
                <a:spcPct val="100000"/>
              </a:lnSpc>
              <a:spcAft>
                <a:spcPts val="200"/>
              </a:spcAft>
              <a:buFont typeface="+mj-lt"/>
              <a:buAutoNum type="arabicPeriod"/>
            </a:pPr>
            <a:r>
              <a:rPr lang="en-IN" sz="1600" b="1" dirty="0"/>
              <a:t>Trigger replenishment</a:t>
            </a:r>
            <a:r>
              <a:rPr lang="en-IN" sz="1600" dirty="0"/>
              <a:t> when on‑hand inventory falls below Reorder Point</a:t>
            </a:r>
          </a:p>
          <a:p>
            <a:pPr marL="342900" lvl="0" indent="-342900">
              <a:lnSpc>
                <a:spcPct val="100000"/>
              </a:lnSpc>
              <a:spcAft>
                <a:spcPts val="200"/>
              </a:spcAft>
              <a:buFont typeface="+mj-lt"/>
              <a:buAutoNum type="arabicPeriod"/>
            </a:pPr>
            <a:r>
              <a:rPr lang="en-IN" sz="1600" b="1" dirty="0"/>
              <a:t>Order up to a target inventory level</a:t>
            </a:r>
            <a:r>
              <a:rPr lang="en-IN" sz="1600" dirty="0"/>
              <a:t> (30 days of cover)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1600" b="1" dirty="0"/>
              <a:t>Key Inputs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 err="1"/>
              <a:t>Avg</a:t>
            </a:r>
            <a:r>
              <a:rPr lang="en-IN" sz="1600" dirty="0"/>
              <a:t> daily demand (last 8 weeks)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Demand volatility (standard deviation)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Supplier lead time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Category‑level service targets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1600" b="1" dirty="0"/>
              <a:t>Core Calculations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Safety Stock</a:t>
            </a:r>
            <a:r>
              <a:rPr lang="en-IN" sz="1600" dirty="0"/>
              <a:t> = z × σ × √</a:t>
            </a:r>
            <a:r>
              <a:rPr lang="en-IN" sz="1600" dirty="0" err="1"/>
              <a:t>LeadTime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Reorder Point (ROP)</a:t>
            </a:r>
            <a:r>
              <a:rPr lang="en-IN" sz="1600" dirty="0"/>
              <a:t> = </a:t>
            </a:r>
            <a:r>
              <a:rPr lang="en-IN" sz="1600" dirty="0" err="1"/>
              <a:t>AvgDailyDemand</a:t>
            </a:r>
            <a:r>
              <a:rPr lang="en-IN" sz="1600" dirty="0"/>
              <a:t> × </a:t>
            </a:r>
            <a:r>
              <a:rPr lang="en-IN" sz="1600" dirty="0" err="1"/>
              <a:t>LeadTime</a:t>
            </a:r>
            <a:r>
              <a:rPr lang="en-IN" sz="1600" dirty="0"/>
              <a:t> + Safety Stock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Order Quantity</a:t>
            </a:r>
            <a:r>
              <a:rPr lang="en-IN" sz="1600" dirty="0"/>
              <a:t> = Raise inventory to </a:t>
            </a:r>
            <a:r>
              <a:rPr lang="en-IN" sz="1600" b="1" dirty="0"/>
              <a:t>30 days of cover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151736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95CFD-ACC8-06FC-A5E9-0A9BD0EC7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1F597-992E-3153-8F3F-26BB0FDC1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785" y="58996"/>
            <a:ext cx="9906000" cy="626654"/>
          </a:xfrm>
        </p:spPr>
        <p:txBody>
          <a:bodyPr>
            <a:normAutofit/>
          </a:bodyPr>
          <a:lstStyle/>
          <a:p>
            <a:r>
              <a:rPr lang="en-IN" sz="3600" b="1" dirty="0"/>
              <a:t>Replenishment Plan: Examples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BAB88-942B-17A0-4BF9-39A26153CC4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705316"/>
            <a:ext cx="10026446" cy="581839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Example 1 — Stockout‑Risk SKU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 err="1"/>
              <a:t>Avg</a:t>
            </a:r>
            <a:r>
              <a:rPr lang="en-IN" sz="1600" dirty="0"/>
              <a:t> daily demand: </a:t>
            </a:r>
            <a:r>
              <a:rPr lang="en-IN" sz="1600" b="1" dirty="0"/>
              <a:t>8 units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Lead time: </a:t>
            </a:r>
            <a:r>
              <a:rPr lang="en-IN" sz="1600" b="1" dirty="0"/>
              <a:t>4 days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Service level target: </a:t>
            </a:r>
            <a:r>
              <a:rPr lang="en-IN" sz="1600" b="1" dirty="0"/>
              <a:t>97%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Current on‑hand inventory: </a:t>
            </a:r>
            <a:r>
              <a:rPr lang="en-IN" sz="1600" b="1" dirty="0"/>
              <a:t>Below ROP</a:t>
            </a:r>
            <a:endParaRPr lang="en-IN" sz="1600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20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000" b="1" dirty="0"/>
              <a:t>Action:</a:t>
            </a:r>
            <a:br>
              <a:rPr lang="en-IN" sz="1600" dirty="0"/>
            </a:br>
            <a:r>
              <a:rPr lang="en-IN" sz="1600" dirty="0"/>
              <a:t>Trigger replenishment to restore inventory to </a:t>
            </a:r>
            <a:r>
              <a:rPr lang="en-IN" sz="1600" b="1" dirty="0"/>
              <a:t>30‑day cover</a:t>
            </a:r>
            <a:r>
              <a:rPr lang="en-IN" sz="1600" dirty="0"/>
              <a:t>, preventing imminent stockout and lost sales.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24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Example 2 — Overstock‑Risk SKU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Days of Inventory on Hand (DOH): </a:t>
            </a:r>
            <a:r>
              <a:rPr lang="en-IN" sz="1600" b="1" dirty="0"/>
              <a:t>&gt; 45 days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Demand covered well beyond near‑term requirements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20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000" b="1" dirty="0"/>
              <a:t>Action:</a:t>
            </a:r>
            <a:endParaRPr lang="en-IN" sz="2000" dirty="0"/>
          </a:p>
          <a:p>
            <a:pPr marL="0" lv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1600" dirty="0"/>
              <a:t>Reduce or pause future orders</a:t>
            </a:r>
          </a:p>
          <a:p>
            <a:pPr marL="0" lv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1600" dirty="0"/>
              <a:t>Transfer excess stock to high‑demand locations</a:t>
            </a:r>
          </a:p>
          <a:p>
            <a:pPr marL="0" lv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1600" dirty="0"/>
              <a:t>Apply discounts where appropriate to accelerate sell‑through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748013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0C472-B468-5B44-FE74-6C58A554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E24A7-CE34-C9CB-A2D3-1D8CE9CE6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058" y="78658"/>
            <a:ext cx="10314039" cy="626654"/>
          </a:xfrm>
        </p:spPr>
        <p:txBody>
          <a:bodyPr>
            <a:noAutofit/>
          </a:bodyPr>
          <a:lstStyle/>
          <a:p>
            <a:r>
              <a:rPr lang="en-IN" sz="3600" b="1" dirty="0"/>
              <a:t>30‑Day Impact Estimate (Assumptions &amp; Scenarios)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EC2D5-C8F7-7AA2-B65F-7B0BA6C2AA3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724980"/>
            <a:ext cx="10026446" cy="575448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Assumptions &amp; Methodology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b="1" dirty="0"/>
              <a:t>Stockout defined</a:t>
            </a:r>
            <a:r>
              <a:rPr lang="en-IN" sz="1700" dirty="0"/>
              <a:t> when on‑hand inventory &lt; Reorder Point (ROP)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b="1" dirty="0"/>
              <a:t>Lost sales proxy</a:t>
            </a:r>
            <a:r>
              <a:rPr lang="en-IN" sz="1700" dirty="0"/>
              <a:t> = </a:t>
            </a:r>
            <a:r>
              <a:rPr lang="en-IN" sz="1700" dirty="0" err="1"/>
              <a:t>Avg</a:t>
            </a:r>
            <a:r>
              <a:rPr lang="en-IN" sz="1700" dirty="0"/>
              <a:t> daily demand × supplier lead time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dirty="0"/>
              <a:t>Impact evaluated over a </a:t>
            </a:r>
            <a:r>
              <a:rPr lang="en-IN" sz="1700" b="1" dirty="0"/>
              <a:t>30‑day forward horizon</a:t>
            </a:r>
            <a:endParaRPr lang="en-IN" sz="17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dirty="0"/>
              <a:t>Execution uncertainty modelled using </a:t>
            </a:r>
            <a:r>
              <a:rPr lang="en-IN" sz="1700" b="1" dirty="0"/>
              <a:t>±20% variance</a:t>
            </a:r>
            <a:endParaRPr lang="en-IN" sz="1700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7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Estimated Business Impact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b="1" dirty="0"/>
              <a:t>Significant reduction in stockout days</a:t>
            </a:r>
            <a:r>
              <a:rPr lang="en-IN" sz="1700" dirty="0"/>
              <a:t> for high‑risk store–SKU combinations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b="1" dirty="0"/>
              <a:t>Material recovery of lost sales (₹)</a:t>
            </a:r>
            <a:r>
              <a:rPr lang="en-IN" sz="1700" dirty="0"/>
              <a:t> driven by improved availability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b="1" dirty="0"/>
              <a:t>Controlled increase in inventory value</a:t>
            </a:r>
            <a:r>
              <a:rPr lang="en-IN" sz="1700" dirty="0"/>
              <a:t>, reflecting a deliberate service‑level trade-off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7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Scenarios Evaluated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b="1" dirty="0"/>
              <a:t>Base Case:</a:t>
            </a:r>
            <a:r>
              <a:rPr lang="en-IN" sz="1700" dirty="0"/>
              <a:t> Expected execution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b="1" dirty="0"/>
              <a:t>Best Case (+20%):</a:t>
            </a:r>
            <a:r>
              <a:rPr lang="en-IN" sz="1700" dirty="0"/>
              <a:t> Strong replenishment execution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700" b="1" dirty="0"/>
              <a:t>Worst Case (–20%):</a:t>
            </a:r>
            <a:r>
              <a:rPr lang="en-IN" sz="1700" dirty="0"/>
              <a:t> Partial execution / operational friction</a:t>
            </a:r>
          </a:p>
          <a:p>
            <a:pPr marL="0" indent="0">
              <a:buNone/>
            </a:pP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14183758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837E9-D51D-C902-B24B-E76DD5E6C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0D273-8345-7BC7-8CBE-27403BF15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058" y="78658"/>
            <a:ext cx="10314039" cy="626654"/>
          </a:xfrm>
        </p:spPr>
        <p:txBody>
          <a:bodyPr>
            <a:noAutofit/>
          </a:bodyPr>
          <a:lstStyle/>
          <a:p>
            <a:r>
              <a:rPr lang="en-IN" sz="3600" b="1" dirty="0"/>
              <a:t>Risks &amp; Limitations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33D94-2555-E4EB-AE42-816873FA75C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724980"/>
            <a:ext cx="10026446" cy="575448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2400" b="1" dirty="0"/>
              <a:t>Key Risks &amp; Limitations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IN" sz="1600" b="1" dirty="0"/>
              <a:t>Linear forecasting model</a:t>
            </a:r>
            <a:r>
              <a:rPr lang="en-IN" sz="1600" dirty="0"/>
              <a:t> may not fully capture nonlinear demand patterns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IN" sz="1600" b="1" dirty="0"/>
              <a:t>Promotional uplift</a:t>
            </a:r>
            <a:r>
              <a:rPr lang="en-IN" sz="1600" dirty="0"/>
              <a:t> assumed uniform across stores and SKUs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IN" sz="1600" b="1" dirty="0"/>
              <a:t>Lead‑time variability</a:t>
            </a:r>
            <a:r>
              <a:rPr lang="en-IN" sz="1600" dirty="0"/>
              <a:t> partially captured using historical medians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IN" sz="1600" b="1" dirty="0"/>
              <a:t>Lost sales</a:t>
            </a:r>
            <a:r>
              <a:rPr lang="en-IN" sz="1600" dirty="0"/>
              <a:t> estimated using a proxy, not actual unmet customer demand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2400" b="1" dirty="0"/>
              <a:t>Current</a:t>
            </a:r>
            <a:r>
              <a:rPr lang="en-IN" sz="1600" b="1" dirty="0"/>
              <a:t> </a:t>
            </a:r>
            <a:r>
              <a:rPr lang="en-IN" sz="2400" b="1" dirty="0"/>
              <a:t>Mitigations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IN" sz="1600" dirty="0"/>
              <a:t>Conservative, category‑specific service level targets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IN" sz="1600" dirty="0"/>
              <a:t>Scenario‑based impact estimation (base / best / worst cases)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IN" sz="1600" dirty="0"/>
              <a:t>Ongoing category‑ and store‑level performance monitoring</a:t>
            </a:r>
          </a:p>
          <a:p>
            <a:pPr marL="0" indent="0">
              <a:buNone/>
            </a:pP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873140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E5E35-7C09-B04F-DDDF-66F99DE62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C0F5D-0359-0A7B-599D-2CB8B43EA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058" y="78658"/>
            <a:ext cx="10314039" cy="626654"/>
          </a:xfrm>
        </p:spPr>
        <p:txBody>
          <a:bodyPr>
            <a:noAutofit/>
          </a:bodyPr>
          <a:lstStyle/>
          <a:p>
            <a:r>
              <a:rPr lang="en-IN" sz="3600" b="1" dirty="0"/>
              <a:t>Risks &amp; Limitations</a:t>
            </a:r>
            <a:endParaRPr lang="en-IN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922DE-5778-4AFD-470B-E3A89A751FE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82777" y="646324"/>
            <a:ext cx="10026446" cy="575448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Recommendation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Roll out the replenishment policy in a </a:t>
            </a:r>
            <a:r>
              <a:rPr lang="en-IN" sz="1600" b="1" dirty="0"/>
              <a:t>phased manner</a:t>
            </a:r>
            <a:r>
              <a:rPr lang="en-IN" sz="1600" dirty="0"/>
              <a:t>, starting with: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Top stockout‑driving categories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b="1" dirty="0"/>
              <a:t>High‑impact store–SKU combinations</a:t>
            </a:r>
            <a:br>
              <a:rPr lang="en-IN" sz="1600" dirty="0"/>
            </a:br>
            <a:r>
              <a:rPr lang="en-IN" sz="1600" dirty="0"/>
              <a:t>This enables quick value capture while limiting operational risk.</a:t>
            </a:r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Next</a:t>
            </a:r>
            <a:r>
              <a:rPr lang="en-IN" sz="1600" b="1" dirty="0"/>
              <a:t> </a:t>
            </a:r>
            <a:r>
              <a:rPr lang="en-IN" sz="2400" b="1" dirty="0"/>
              <a:t>Steps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Incorporate </a:t>
            </a:r>
            <a:r>
              <a:rPr lang="en-IN" sz="1600" b="1" dirty="0"/>
              <a:t>promo depth and intensity</a:t>
            </a:r>
            <a:r>
              <a:rPr lang="en-IN" sz="1600" dirty="0"/>
              <a:t> into demand forecasts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Explicitly model </a:t>
            </a:r>
            <a:r>
              <a:rPr lang="en-IN" sz="1600" b="1" dirty="0"/>
              <a:t>lead‑time uncertainty and variability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Enable </a:t>
            </a:r>
            <a:r>
              <a:rPr lang="en-IN" sz="1600" b="1" dirty="0"/>
              <a:t>store‑specific service level tuning</a:t>
            </a:r>
            <a:endParaRPr lang="en-IN" sz="16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Automate the </a:t>
            </a:r>
            <a:r>
              <a:rPr lang="en-IN" sz="1600" b="1" dirty="0"/>
              <a:t>weekly replenishment planning and execution loop</a:t>
            </a:r>
            <a:endParaRPr lang="en-IN" sz="1600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endParaRPr lang="en-IN" sz="1600" b="1" dirty="0"/>
          </a:p>
          <a:p>
            <a:pPr marL="0" indent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IN" sz="2400" b="1" dirty="0"/>
              <a:t>Expected</a:t>
            </a:r>
            <a:r>
              <a:rPr lang="en-IN" sz="1600" b="1" dirty="0"/>
              <a:t> </a:t>
            </a:r>
            <a:r>
              <a:rPr lang="en-IN" sz="2400" b="1" dirty="0"/>
              <a:t>Outcomes</a:t>
            </a:r>
            <a:endParaRPr lang="en-IN" sz="2400" dirty="0"/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Higher Fill Rate (improved availability)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Reduced lost sales</a:t>
            </a:r>
          </a:p>
          <a:p>
            <a:pPr>
              <a:lnSpc>
                <a:spcPct val="100000"/>
              </a:lnSpc>
              <a:spcAft>
                <a:spcPts val="200"/>
              </a:spcAft>
            </a:pPr>
            <a:r>
              <a:rPr lang="en-IN" sz="1600" dirty="0"/>
              <a:t>Disciplined and sustainable inventory growth</a:t>
            </a:r>
          </a:p>
          <a:p>
            <a:pPr marL="0" indent="0">
              <a:buNone/>
            </a:pP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609657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1424</TotalTime>
  <Words>1113</Words>
  <Application>Microsoft Office PowerPoint</Application>
  <PresentationFormat>Widescreen</PresentationFormat>
  <Paragraphs>173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Avenir</vt:lpstr>
      <vt:lpstr>Office Theme</vt:lpstr>
      <vt:lpstr>PowerPoint Presentation</vt:lpstr>
      <vt:lpstr>Objective &amp; Success Metrics</vt:lpstr>
      <vt:lpstr>Data &amp; Methodology (ETL + Forecasting)</vt:lpstr>
      <vt:lpstr>Data &amp; Methodology (Replenishment Policy)</vt:lpstr>
      <vt:lpstr>Key Insights</vt:lpstr>
      <vt:lpstr>Forecast Performance &amp; Chosen Approach</vt:lpstr>
      <vt:lpstr>Replenishment Plan: How It Works</vt:lpstr>
      <vt:lpstr>Replenishment Plan: Examples</vt:lpstr>
      <vt:lpstr>30‑Day Impact Estimate (Assumptions &amp; Scenarios)</vt:lpstr>
      <vt:lpstr>Risks &amp; Limitations</vt:lpstr>
      <vt:lpstr>Risks &amp; 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Haneeesh Singhal</dc:creator>
  <cp:lastModifiedBy>Haneeesh Singhal</cp:lastModifiedBy>
  <cp:revision>18</cp:revision>
  <dcterms:created xsi:type="dcterms:W3CDTF">2026-03-03T15:09:46Z</dcterms:created>
  <dcterms:modified xsi:type="dcterms:W3CDTF">2026-03-04T15:18:18Z</dcterms:modified>
</cp:coreProperties>
</file>